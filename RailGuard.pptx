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ailGuard" id="{47D1ECC7-038A-B092-FE67-15DE7CEC53A5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78" y="1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46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minutes. Problem: manual track inspection is slow and risky, and a missed defect can derail a train; cameras record more imagery than people can review. Inspiration: the Mendeley Railway Track Surface Faults dataset, recorded at 120 FPS at Kotri Junction. Gap: edge-sized detectors need a like-for-like comparison on real footage, and a detector alone is not usable by an operator. What I added: a single-class baseline, a comparison of three nano YOLO models, object-level error analysis, and a working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minutes. Pipeline: the Mendeley data comes as a Roboflow YOLO export with a predefined split. For Phase 1 I merged the 10 defect classes into one class, fine-tuned three nano models from COCO-pretrained weights, then tested on the held-out set and did object-level error analysis. The same models sit behind the web app pipeline. All three are CNN detectors: YOLOv8n and YOLO11n use NMS, YOLO26n is end-to-end and needs no NMS. Mosaic augmentation stitches four images so the model sees defects at different scales; it is switched off for the last 10 epochs.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minutes. Left table: design and cost. YOLO26n is smallest at 2.38M parameters and needs no NMS; YOLOv8n is largest at 3.01M. Right table: validation and test. YOLO11n is best on F1 (0.439 test) and mAP@50 (0.400) with fewer parameters than YOLOv8n; YOLOv8n has the highest test recall (0.426). mAP@50 is about 0.40 but mAP@50-95 is about 0.14, so the model finds the defect region but boxes are loose at strict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minutes. Left: training and validation curves over 50 epochs (losses fall steadily, metrics plateau). Right: F1 against confidence; peak F1 is about 0.43 to 0.44 for both. Best epochs were 47 for YOLOv8n and 46 for YOLO11n, chosen by validation fitness (0.1 x mAP@50 + 0.9 x mAP@50-95). Early stopping never triggered.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minutes. Top left: YOLO26n curves. Bottom left: confusion matrices; with one class they mainly show defects against background. Error analysis on 1,494 ground-truth defects at confidence 0.25 and IoU 0.5: YOLO11n found 520 with 485 false positives and 974 misses; YOLO26n is the most conservative with 225 false positives but 1,118 misses. Likely causes of misses (small defects, resizing to 640, motion blur) are hypotheses I have not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minutes. Limitations first: recall is low, so this is a research baseline and not a safety system; there is likely frame leakage because the split is image-level on 120 FPS video; all data is from one location. Web app: FastAPI serves a 10-class YOLOv8s model, React 19 with Vite is the frontend. Phase 2: multi-class benchmarking is in progress, so I am not presenting multi-class numbers today; then a leakage-safe split, higher resolution or sliced inference, transformer detectors and FPGA edge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chemeClr val="tx2"/>
                </a:solidFill>
              </a:rPr>
              <a:t>RAILGUARD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N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chemeClr val="tx2"/>
                </a:solidFill>
              </a:rPr>
              <a:t>RAILGUARD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5303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chemeClr val="tx2"/>
                </a:solidFill>
              </a:rPr>
              <a:t>RAILGUARD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PROJECT TITLE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RailGuard: Railway Track Surface Defect Detection</a:t>
            </a:r>
            <a:endParaRPr lang="en-US" sz="1800" dirty="0"/>
          </a:p>
        </p:txBody>
      </p:sp>
      <p:sp>
        <p:nvSpPr>
          <p:cNvPr id="4" name="Student details"/>
          <p:cNvSpPr txBox="1"/>
          <p:nvPr/>
        </p:nvSpPr>
        <p:spPr>
          <a:xfrm>
            <a:off x="6035040" y="256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Name: </a:t>
            </a:r>
            <a:r>
              <a:rPr lang="en-US" sz="1000" dirty="0">
                <a:solidFill>
                  <a:schemeClr val="tx1"/>
                </a:solidFill>
              </a:rPr>
              <a:t>Balaji S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Department: </a:t>
            </a:r>
            <a:r>
              <a:rPr lang="en-US" sz="1000" dirty="0">
                <a:solidFill>
                  <a:schemeClr val="tx1"/>
                </a:solidFill>
              </a:rPr>
              <a:t>CSE 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Register no: </a:t>
            </a:r>
            <a:r>
              <a:rPr lang="en-US" sz="1000" b="1" dirty="0"/>
              <a:t>312424104040</a:t>
            </a:r>
            <a:endParaRPr lang="en-US" sz="1000" dirty="0"/>
          </a:p>
        </p:txBody>
      </p:sp>
      <p:sp>
        <p:nvSpPr>
          <p:cNvPr id="5" name="Problem card"/>
          <p:cNvSpPr/>
          <p:nvPr/>
        </p:nvSpPr>
        <p:spPr>
          <a:xfrm>
            <a:off x="457200" y="2148840"/>
            <a:ext cx="402336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roblem text"/>
          <p:cNvSpPr txBox="1"/>
          <p:nvPr/>
        </p:nvSpPr>
        <p:spPr>
          <a:xfrm>
            <a:off x="640080" y="227685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PROBLEM</a:t>
            </a: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</a:rPr>
              <a:t>Manual track inspection is slow, labour-intensive and risky, and a missed defect can cause a derailment. Cameras record far more imagery than people can review, and surface defects are small and blend into normal rail wear.</a:t>
            </a:r>
            <a:endParaRPr lang="en-US" sz="900" dirty="0"/>
          </a:p>
        </p:txBody>
      </p:sp>
      <p:sp>
        <p:nvSpPr>
          <p:cNvPr id="11" name="Adds card"/>
          <p:cNvSpPr/>
          <p:nvPr/>
        </p:nvSpPr>
        <p:spPr>
          <a:xfrm>
            <a:off x="4663440" y="1280160"/>
            <a:ext cx="402336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abel WHAT THIS PROJECT ADDS"/>
          <p:cNvSpPr txBox="1"/>
          <p:nvPr/>
        </p:nvSpPr>
        <p:spPr>
          <a:xfrm>
            <a:off x="4846320" y="1389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WHAT THIS PROJECT ADDS</a:t>
            </a:r>
            <a:endParaRPr lang="en-US" sz="900" dirty="0"/>
          </a:p>
        </p:txBody>
      </p:sp>
      <p:sp>
        <p:nvSpPr>
          <p:cNvPr id="13" name="Number 1"/>
          <p:cNvSpPr txBox="1"/>
          <p:nvPr/>
        </p:nvSpPr>
        <p:spPr>
          <a:xfrm>
            <a:off x="4846320" y="1746504"/>
            <a:ext cx="237744" cy="23774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Adds item 1"/>
          <p:cNvSpPr txBox="1"/>
          <p:nvPr/>
        </p:nvSpPr>
        <p:spPr>
          <a:xfrm>
            <a:off x="5212080" y="16916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Single-class baseline</a:t>
            </a:r>
            <a:endParaRPr lang="en-US" sz="900" dirty="0"/>
          </a:p>
        </p:txBody>
      </p:sp>
      <p:sp>
        <p:nvSpPr>
          <p:cNvPr id="15" name="Number 2"/>
          <p:cNvSpPr txBox="1"/>
          <p:nvPr/>
        </p:nvSpPr>
        <p:spPr>
          <a:xfrm>
            <a:off x="4846320" y="2130552"/>
            <a:ext cx="237744" cy="23774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Adds item 2"/>
          <p:cNvSpPr txBox="1"/>
          <p:nvPr/>
        </p:nvSpPr>
        <p:spPr>
          <a:xfrm>
            <a:off x="5212080" y="2075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Like-for-like comparison of YOLOv8n, YOLO11n and YOLO26n</a:t>
            </a:r>
            <a:endParaRPr lang="en-US" sz="900" dirty="0"/>
          </a:p>
        </p:txBody>
      </p:sp>
      <p:sp>
        <p:nvSpPr>
          <p:cNvPr id="17" name="Number 3"/>
          <p:cNvSpPr txBox="1"/>
          <p:nvPr/>
        </p:nvSpPr>
        <p:spPr>
          <a:xfrm>
            <a:off x="4846320" y="2514600"/>
            <a:ext cx="237744" cy="23774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Adds item 3"/>
          <p:cNvSpPr txBox="1"/>
          <p:nvPr/>
        </p:nvSpPr>
        <p:spPr>
          <a:xfrm>
            <a:off x="5212080" y="24597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Object-level error analysis: TP, FP, FN and worst-case images</a:t>
            </a:r>
            <a:endParaRPr lang="en-US" sz="900" dirty="0"/>
          </a:p>
        </p:txBody>
      </p:sp>
      <p:sp>
        <p:nvSpPr>
          <p:cNvPr id="19" name="Number 4"/>
          <p:cNvSpPr txBox="1"/>
          <p:nvPr/>
        </p:nvSpPr>
        <p:spPr>
          <a:xfrm>
            <a:off x="4846320" y="2898648"/>
            <a:ext cx="237744" cy="23774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Adds item 4"/>
          <p:cNvSpPr txBox="1"/>
          <p:nvPr/>
        </p:nvSpPr>
        <p:spPr>
          <a:xfrm>
            <a:off x="5212080" y="28437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Working web app: upload an image and see the detections</a:t>
            </a:r>
            <a:endParaRPr lang="en-US" sz="900" dirty="0"/>
          </a:p>
        </p:txBody>
      </p:sp>
      <p:sp>
        <p:nvSpPr>
          <p:cNvPr id="21" name="Objectives card"/>
          <p:cNvSpPr/>
          <p:nvPr/>
        </p:nvSpPr>
        <p:spPr>
          <a:xfrm>
            <a:off x="4663440" y="3337560"/>
            <a:ext cx="402336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Label OBJECTIVES"/>
          <p:cNvSpPr txBox="1"/>
          <p:nvPr/>
        </p:nvSpPr>
        <p:spPr>
          <a:xfrm>
            <a:off x="4846320" y="3447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OBJECTIVES</a:t>
            </a:r>
            <a:endParaRPr lang="en-US" sz="900" dirty="0"/>
          </a:p>
        </p:txBody>
      </p:sp>
      <p:sp>
        <p:nvSpPr>
          <p:cNvPr id="23" name="Objective 1"/>
          <p:cNvSpPr txBox="1"/>
          <p:nvPr/>
        </p:nvSpPr>
        <p:spPr>
          <a:xfrm>
            <a:off x="4846320" y="37216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(1) Locate rail defects with bounding boxes</a:t>
            </a:r>
            <a:endParaRPr lang="en-US" sz="900" dirty="0"/>
          </a:p>
        </p:txBody>
      </p:sp>
      <p:sp>
        <p:nvSpPr>
          <p:cNvPr id="24" name="Objective 2"/>
          <p:cNvSpPr txBox="1"/>
          <p:nvPr/>
        </p:nvSpPr>
        <p:spPr>
          <a:xfrm>
            <a:off x="6766560" y="37216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(2) Compare three nano YOLO detectors</a:t>
            </a:r>
            <a:endParaRPr lang="en-US" sz="900" dirty="0"/>
          </a:p>
        </p:txBody>
      </p:sp>
      <p:sp>
        <p:nvSpPr>
          <p:cNvPr id="25" name="Objective 3"/>
          <p:cNvSpPr txBox="1"/>
          <p:nvPr/>
        </p:nvSpPr>
        <p:spPr>
          <a:xfrm>
            <a:off x="4846320" y="410565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(3) Analyse missed defects and false alarms</a:t>
            </a:r>
            <a:endParaRPr lang="en-US" sz="900" dirty="0"/>
          </a:p>
        </p:txBody>
      </p:sp>
      <p:sp>
        <p:nvSpPr>
          <p:cNvPr id="26" name="Objective 4"/>
          <p:cNvSpPr txBox="1"/>
          <p:nvPr/>
        </p:nvSpPr>
        <p:spPr>
          <a:xfrm>
            <a:off x="6766560" y="410565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(4) Deliver an operator web app</a:t>
            </a:r>
            <a:endParaRPr lang="en-US" sz="900" dirty="0"/>
          </a:p>
        </p:txBody>
      </p:sp>
      <p:sp>
        <p:nvSpPr>
          <p:cNvPr id="27" name="Source"/>
          <p:cNvSpPr txBox="1"/>
          <p:nvPr/>
        </p:nvSpPr>
        <p:spPr>
          <a:xfrm>
            <a:off x="457200" y="455371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chemeClr val="tx2"/>
                </a:solidFill>
              </a:rPr>
              <a:t>Source: Railway Track Surface Faults Dataset v2, Mendeley Data, 2022 (DOI 10.17632/8hxtgyyxrw.2)</a:t>
            </a:r>
            <a:endParaRPr lang="en-US" sz="7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METHOD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Architecture: Pipeline and Models</a:t>
            </a:r>
            <a:endParaRPr lang="en-US" sz="2000" dirty="0"/>
          </a:p>
        </p:txBody>
      </p:sp>
      <p:sp>
        <p:nvSpPr>
          <p:cNvPr id="4" name="Label PROJECT PIPELINE"/>
          <p:cNvSpPr txBox="1"/>
          <p:nvPr/>
        </p:nvSpPr>
        <p:spPr>
          <a:xfrm>
            <a:off x="457200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PROJECT PIPELINE</a:t>
            </a:r>
            <a:endParaRPr lang="en-US" sz="900" dirty="0"/>
          </a:p>
        </p:txBody>
      </p:sp>
      <p:sp>
        <p:nvSpPr>
          <p:cNvPr id="5" name="Box Mendeley dataset"/>
          <p:cNvSpPr txBox="1"/>
          <p:nvPr/>
        </p:nvSpPr>
        <p:spPr>
          <a:xfrm>
            <a:off x="457200" y="1143000"/>
            <a:ext cx="1188720" cy="59436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Mendeley dataset</a:t>
            </a:r>
            <a:endParaRPr lang="en-US" sz="900" dirty="0"/>
          </a:p>
        </p:txBody>
      </p:sp>
      <p:sp>
        <p:nvSpPr>
          <p:cNvPr id="6" name="Arrow 1"/>
          <p:cNvSpPr/>
          <p:nvPr/>
        </p:nvSpPr>
        <p:spPr>
          <a:xfrm>
            <a:off x="1700784" y="1353312"/>
            <a:ext cx="109728" cy="1828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Arrow 2"/>
          <p:cNvSpPr/>
          <p:nvPr/>
        </p:nvSpPr>
        <p:spPr>
          <a:xfrm>
            <a:off x="3108960" y="1353312"/>
            <a:ext cx="109728" cy="1828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ox Merge 10 classes int"/>
          <p:cNvSpPr txBox="1"/>
          <p:nvPr/>
        </p:nvSpPr>
        <p:spPr>
          <a:xfrm>
            <a:off x="1810512" y="1143000"/>
            <a:ext cx="1188720" cy="59436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Merge 10 classes into 1</a:t>
            </a:r>
            <a:endParaRPr lang="en-US" sz="900" dirty="0"/>
          </a:p>
        </p:txBody>
      </p:sp>
      <p:sp>
        <p:nvSpPr>
          <p:cNvPr id="10" name="Arrow 3"/>
          <p:cNvSpPr/>
          <p:nvPr/>
        </p:nvSpPr>
        <p:spPr>
          <a:xfrm>
            <a:off x="4517136" y="1353312"/>
            <a:ext cx="109728" cy="1828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ox Fine-tune 3 YOLO mod"/>
          <p:cNvSpPr txBox="1"/>
          <p:nvPr/>
        </p:nvSpPr>
        <p:spPr>
          <a:xfrm>
            <a:off x="3273552" y="1143000"/>
            <a:ext cx="1188720" cy="59436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Fine-tune 3 YOLO models</a:t>
            </a:r>
            <a:endParaRPr lang="en-US" sz="900" dirty="0"/>
          </a:p>
        </p:txBody>
      </p:sp>
      <p:sp>
        <p:nvSpPr>
          <p:cNvPr id="12" name="Arrow 4"/>
          <p:cNvSpPr/>
          <p:nvPr/>
        </p:nvSpPr>
        <p:spPr>
          <a:xfrm>
            <a:off x="5925312" y="1353312"/>
            <a:ext cx="109728" cy="1828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ox Test and error analy"/>
          <p:cNvSpPr txBox="1"/>
          <p:nvPr/>
        </p:nvSpPr>
        <p:spPr>
          <a:xfrm>
            <a:off x="4663440" y="1143000"/>
            <a:ext cx="1188720" cy="59436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Test and error analysis</a:t>
            </a:r>
            <a:endParaRPr lang="en-US" sz="900" dirty="0"/>
          </a:p>
        </p:txBody>
      </p:sp>
      <p:sp>
        <p:nvSpPr>
          <p:cNvPr id="15" name="Box Web app"/>
          <p:cNvSpPr txBox="1"/>
          <p:nvPr/>
        </p:nvSpPr>
        <p:spPr>
          <a:xfrm>
            <a:off x="6089904" y="1143000"/>
            <a:ext cx="1188720" cy="59436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Web app</a:t>
            </a:r>
            <a:endParaRPr lang="en-US" sz="900" dirty="0"/>
          </a:p>
        </p:txBody>
      </p:sp>
      <p:sp>
        <p:nvSpPr>
          <p:cNvPr id="16" name="Label MODEL ARCHITECTURES"/>
          <p:cNvSpPr txBox="1"/>
          <p:nvPr/>
        </p:nvSpPr>
        <p:spPr>
          <a:xfrm>
            <a:off x="45720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MODEL ARCHITECTURES</a:t>
            </a:r>
            <a:endParaRPr lang="en-US" sz="900" dirty="0"/>
          </a:p>
        </p:txBody>
      </p:sp>
      <p:sp>
        <p:nvSpPr>
          <p:cNvPr id="17" name="Model name YOLOV8N"/>
          <p:cNvSpPr txBox="1"/>
          <p:nvPr/>
        </p:nvSpPr>
        <p:spPr>
          <a:xfrm>
            <a:off x="457200" y="21762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YOLOV8N</a:t>
            </a:r>
            <a:endParaRPr lang="en-US" sz="900" dirty="0"/>
          </a:p>
        </p:txBody>
      </p:sp>
      <p:sp>
        <p:nvSpPr>
          <p:cNvPr id="18" name="Box CNN backbone"/>
          <p:cNvSpPr txBox="1"/>
          <p:nvPr/>
        </p:nvSpPr>
        <p:spPr>
          <a:xfrm>
            <a:off x="1188720" y="2176272"/>
            <a:ext cx="960120" cy="42062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CNN backbone</a:t>
            </a:r>
            <a:endParaRPr lang="en-US" sz="800" dirty="0"/>
          </a:p>
        </p:txBody>
      </p:sp>
      <p:sp>
        <p:nvSpPr>
          <p:cNvPr id="19" name="Box Neck (feature fusion"/>
          <p:cNvSpPr txBox="1"/>
          <p:nvPr/>
        </p:nvSpPr>
        <p:spPr>
          <a:xfrm>
            <a:off x="2258568" y="2176272"/>
            <a:ext cx="960120" cy="42062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Neck (feature fusion)</a:t>
            </a:r>
            <a:endParaRPr lang="en-US" sz="800" dirty="0"/>
          </a:p>
        </p:txBody>
      </p:sp>
      <p:sp>
        <p:nvSpPr>
          <p:cNvPr id="20" name="Box Detection head"/>
          <p:cNvSpPr txBox="1"/>
          <p:nvPr/>
        </p:nvSpPr>
        <p:spPr>
          <a:xfrm>
            <a:off x="3328416" y="2176272"/>
            <a:ext cx="960120" cy="42062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Detection head</a:t>
            </a:r>
            <a:endParaRPr lang="en-US" sz="800" dirty="0"/>
          </a:p>
        </p:txBody>
      </p:sp>
      <p:sp>
        <p:nvSpPr>
          <p:cNvPr id="22" name="Model name YOLO11N"/>
          <p:cNvSpPr txBox="1"/>
          <p:nvPr/>
        </p:nvSpPr>
        <p:spPr>
          <a:xfrm>
            <a:off x="457200" y="270662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YOLO11N</a:t>
            </a:r>
            <a:endParaRPr lang="en-US" sz="900" dirty="0"/>
          </a:p>
        </p:txBody>
      </p:sp>
      <p:sp>
        <p:nvSpPr>
          <p:cNvPr id="23" name="Box CNN backbone (C3k2)"/>
          <p:cNvSpPr txBox="1"/>
          <p:nvPr/>
        </p:nvSpPr>
        <p:spPr>
          <a:xfrm>
            <a:off x="1188720" y="2706624"/>
            <a:ext cx="960120" cy="42062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CNN backbone</a:t>
            </a:r>
            <a:endParaRPr lang="en-US" sz="800" dirty="0"/>
          </a:p>
        </p:txBody>
      </p:sp>
      <p:sp>
        <p:nvSpPr>
          <p:cNvPr id="24" name="Box Neck (feature fusion"/>
          <p:cNvSpPr txBox="1"/>
          <p:nvPr/>
        </p:nvSpPr>
        <p:spPr>
          <a:xfrm>
            <a:off x="2258568" y="2706624"/>
            <a:ext cx="960120" cy="42062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Neck (feature fusion)</a:t>
            </a:r>
            <a:endParaRPr lang="en-US" sz="800" dirty="0"/>
          </a:p>
        </p:txBody>
      </p:sp>
      <p:sp>
        <p:nvSpPr>
          <p:cNvPr id="25" name="Box Detection head"/>
          <p:cNvSpPr txBox="1"/>
          <p:nvPr/>
        </p:nvSpPr>
        <p:spPr>
          <a:xfrm>
            <a:off x="3328416" y="2706624"/>
            <a:ext cx="960120" cy="42062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Detection head</a:t>
            </a:r>
            <a:endParaRPr lang="en-US" sz="800" dirty="0"/>
          </a:p>
        </p:txBody>
      </p:sp>
      <p:sp>
        <p:nvSpPr>
          <p:cNvPr id="27" name="Model name YOLO26N"/>
          <p:cNvSpPr txBox="1"/>
          <p:nvPr/>
        </p:nvSpPr>
        <p:spPr>
          <a:xfrm>
            <a:off x="457200" y="323697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YOLO26N</a:t>
            </a:r>
            <a:endParaRPr lang="en-US" sz="900" dirty="0"/>
          </a:p>
        </p:txBody>
      </p:sp>
      <p:sp>
        <p:nvSpPr>
          <p:cNvPr id="28" name="Box CNN backbone"/>
          <p:cNvSpPr txBox="1"/>
          <p:nvPr/>
        </p:nvSpPr>
        <p:spPr>
          <a:xfrm>
            <a:off x="1188720" y="3236976"/>
            <a:ext cx="960120" cy="42062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CNN backbone</a:t>
            </a:r>
            <a:endParaRPr lang="en-US" sz="800" dirty="0"/>
          </a:p>
        </p:txBody>
      </p:sp>
      <p:sp>
        <p:nvSpPr>
          <p:cNvPr id="29" name="Box Neck (feature fusion"/>
          <p:cNvSpPr txBox="1"/>
          <p:nvPr/>
        </p:nvSpPr>
        <p:spPr>
          <a:xfrm>
            <a:off x="2258568" y="3236976"/>
            <a:ext cx="960120" cy="42062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Neck (feature fusion)</a:t>
            </a:r>
            <a:endParaRPr lang="en-US" sz="800" dirty="0"/>
          </a:p>
        </p:txBody>
      </p:sp>
      <p:sp>
        <p:nvSpPr>
          <p:cNvPr id="30" name="Box End-to-end head"/>
          <p:cNvSpPr txBox="1"/>
          <p:nvPr/>
        </p:nvSpPr>
        <p:spPr>
          <a:xfrm>
            <a:off x="3328416" y="3236976"/>
            <a:ext cx="960120" cy="42062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End-to-end head</a:t>
            </a:r>
            <a:endParaRPr lang="en-US" sz="800" dirty="0"/>
          </a:p>
        </p:txBody>
      </p:sp>
      <p:sp>
        <p:nvSpPr>
          <p:cNvPr id="32" name="Method card"/>
          <p:cNvSpPr/>
          <p:nvPr/>
        </p:nvSpPr>
        <p:spPr>
          <a:xfrm>
            <a:off x="457200" y="3822192"/>
            <a:ext cx="462280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Method text"/>
          <p:cNvSpPr txBox="1"/>
          <p:nvPr/>
        </p:nvSpPr>
        <p:spPr>
          <a:xfrm>
            <a:off x="594360" y="3886200"/>
            <a:ext cx="44506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TRAINING METHOD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</a:rPr>
              <a:t>Fine-tuned from COCO-pretrained weights: 50 epochs, batch 16, 640 x 640, AdamW, Kaggle T4 GPU. </a:t>
            </a:r>
            <a:r>
              <a:rPr lang="en-US" sz="850" dirty="0"/>
              <a:t>A</a:t>
            </a:r>
            <a:r>
              <a:rPr lang="en-US" sz="850" dirty="0">
                <a:solidFill>
                  <a:schemeClr val="tx1"/>
                </a:solidFill>
              </a:rPr>
              <a:t>ugmentation: HSV shifts, flip, scale, translate. Validation and test images are never augmented.</a:t>
            </a:r>
            <a:endParaRPr lang="en-US" sz="900" dirty="0"/>
          </a:p>
        </p:txBody>
      </p:sp>
      <p:sp>
        <p:nvSpPr>
          <p:cNvPr id="34" name="Label SAMPLE PREDICTIONS"/>
          <p:cNvSpPr txBox="1"/>
          <p:nvPr/>
        </p:nvSpPr>
        <p:spPr>
          <a:xfrm>
            <a:off x="6126480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SAMPLE PREDICTIONS</a:t>
            </a:r>
            <a:endParaRPr lang="en-US" sz="9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9" name="Box Detection head">
            <a:extLst>
              <a:ext uri="{FF2B5EF4-FFF2-40B4-BE49-F238E27FC236}">
                <a16:creationId xmlns:a16="http://schemas.microsoft.com/office/drawing/2014/main" id="{4009F54C-B601-D35A-0B3D-581CA2666AAC}"/>
              </a:ext>
            </a:extLst>
          </p:cNvPr>
          <p:cNvSpPr txBox="1"/>
          <p:nvPr/>
        </p:nvSpPr>
        <p:spPr>
          <a:xfrm>
            <a:off x="4462587" y="2176272"/>
            <a:ext cx="960120" cy="42062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800" dirty="0"/>
              <a:t>NMS</a:t>
            </a:r>
          </a:p>
        </p:txBody>
      </p:sp>
      <p:sp>
        <p:nvSpPr>
          <p:cNvPr id="41" name="Box Detection head">
            <a:extLst>
              <a:ext uri="{FF2B5EF4-FFF2-40B4-BE49-F238E27FC236}">
                <a16:creationId xmlns:a16="http://schemas.microsoft.com/office/drawing/2014/main" id="{894B9616-4443-E9D6-8AA2-34988AFB6784}"/>
              </a:ext>
            </a:extLst>
          </p:cNvPr>
          <p:cNvSpPr txBox="1"/>
          <p:nvPr/>
        </p:nvSpPr>
        <p:spPr>
          <a:xfrm>
            <a:off x="4462587" y="2706624"/>
            <a:ext cx="960120" cy="42062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NMS</a:t>
            </a:r>
            <a:endParaRPr lang="en-US" sz="800" dirty="0"/>
          </a:p>
        </p:txBody>
      </p:sp>
      <p:sp>
        <p:nvSpPr>
          <p:cNvPr id="43" name="Box Detection head">
            <a:extLst>
              <a:ext uri="{FF2B5EF4-FFF2-40B4-BE49-F238E27FC236}">
                <a16:creationId xmlns:a16="http://schemas.microsoft.com/office/drawing/2014/main" id="{3FC3EFD9-09FD-FDB5-42CF-C00E50973015}"/>
              </a:ext>
            </a:extLst>
          </p:cNvPr>
          <p:cNvSpPr txBox="1"/>
          <p:nvPr/>
        </p:nvSpPr>
        <p:spPr>
          <a:xfrm>
            <a:off x="4462272" y="3236976"/>
            <a:ext cx="960120" cy="42062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800" dirty="0"/>
              <a:t>No NMS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A543D4F-1AD8-9EDD-B1F9-625A4064F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2304288"/>
            <a:ext cx="1744883" cy="174488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4377E6-E84A-508E-7AE0-928294FF5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348" y="2504694"/>
            <a:ext cx="1502708" cy="15027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Model Comparison and Metrics</a:t>
            </a:r>
            <a:endParaRPr lang="en-US" sz="2000" dirty="0"/>
          </a:p>
        </p:txBody>
      </p:sp>
      <p:sp>
        <p:nvSpPr>
          <p:cNvPr id="4" name="Label DESIGN AND SPEED"/>
          <p:cNvSpPr txBox="1"/>
          <p:nvPr/>
        </p:nvSpPr>
        <p:spPr>
          <a:xfrm>
            <a:off x="457200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DESIGN AND SPEED</a:t>
            </a:r>
            <a:endParaRPr lang="en-US" sz="900" dirty="0"/>
          </a:p>
        </p:txBody>
      </p:sp>
      <p:graphicFrame>
        <p:nvGraphicFramePr>
          <p:cNvPr id="5" name="Desig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3931920" cy="21945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YOLOv8n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YOLO11n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YOLO26n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CNN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CNN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CNN, end-to-end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NMS needed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Parameters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3.01M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2.58M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2.38M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GFLOPs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8.2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~6.5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5.3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Checkpoint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5.96 MiB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5.22 MiB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5.14 MiB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Training time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0.69 h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0.84 h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0.92 h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Best epoch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Label EVALUATION METRICS (VALIDATION AND TEST)"/>
          <p:cNvSpPr txBox="1"/>
          <p:nvPr/>
        </p:nvSpPr>
        <p:spPr>
          <a:xfrm>
            <a:off x="4663440" y="9144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EVALUATION METRICS (VALIDATION AND TEST)</a:t>
            </a:r>
            <a:endParaRPr lang="en-US" sz="900" dirty="0"/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023360" cy="19202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Split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Prec.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Recall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mAP50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mAP50-95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YOLOv8n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0.432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0.377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0.402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0.354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0.129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0.432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0.426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0.429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0.398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0.137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YOLO11n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Val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0.447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0.417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0.431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0.390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0.145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Test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0.477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0.406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0.439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0.400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0.144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YOLO26n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0.438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0.372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0.403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0.355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0.133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0.434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0.376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0.403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0.375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0.136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Note card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ote text"/>
          <p:cNvSpPr txBox="1"/>
          <p:nvPr/>
        </p:nvSpPr>
        <p:spPr>
          <a:xfrm>
            <a:off x="640080" y="3657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SAME SETUP FOR ALL THREE</a:t>
            </a: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</a:rPr>
              <a:t>Same dataset, image size, epochs, batch size and optimizer. Test metrics are at the peak-F1 threshold on 1,494 defect objects. YOLO26n was tested on 300 images (background images removed). Best model by validation fitness: YOLO11n.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Results: YOLOv8n and YOLO11n</a:t>
            </a:r>
            <a:endParaRPr lang="en-US" sz="2000" dirty="0"/>
          </a:p>
        </p:txBody>
      </p:sp>
      <p:sp>
        <p:nvSpPr>
          <p:cNvPr id="4" name="Label YOLOV8N RESULT"/>
          <p:cNvSpPr txBox="1"/>
          <p:nvPr/>
        </p:nvSpPr>
        <p:spPr>
          <a:xfrm>
            <a:off x="457200" y="9692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YOLOV8N RESULT</a:t>
            </a:r>
            <a:endParaRPr lang="en-US" sz="900" dirty="0"/>
          </a:p>
        </p:txBody>
      </p:sp>
      <p:sp>
        <p:nvSpPr>
          <p:cNvPr id="8" name="Label YOLO11N RESULT"/>
          <p:cNvSpPr txBox="1"/>
          <p:nvPr/>
        </p:nvSpPr>
        <p:spPr>
          <a:xfrm>
            <a:off x="5137807" y="9692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YOLO11N RESULT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90F712-4F42-8F90-5124-0C8692967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12" y="1377959"/>
            <a:ext cx="3877967" cy="22586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8490512-78B7-6581-181E-D5842D4E3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455" y="1377958"/>
            <a:ext cx="4394200" cy="2258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Results: YOLO26n and Error Analysis</a:t>
            </a:r>
            <a:endParaRPr lang="en-US" sz="2000" dirty="0"/>
          </a:p>
        </p:txBody>
      </p:sp>
      <p:sp>
        <p:nvSpPr>
          <p:cNvPr id="4" name="Label YOLO26N RESULT"/>
          <p:cNvSpPr txBox="1"/>
          <p:nvPr/>
        </p:nvSpPr>
        <p:spPr>
          <a:xfrm>
            <a:off x="457200" y="914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YOLO26N RESULT</a:t>
            </a:r>
            <a:endParaRPr lang="en-US" sz="900" dirty="0"/>
          </a:p>
        </p:txBody>
      </p:sp>
      <p:sp>
        <p:nvSpPr>
          <p:cNvPr id="8" name="Label CONFUSION MATRICES: YOLOV8N, YOLO11N, YOLO26N"/>
          <p:cNvSpPr txBox="1"/>
          <p:nvPr/>
        </p:nvSpPr>
        <p:spPr>
          <a:xfrm>
            <a:off x="457200" y="2487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CONFUSION MATRICES: YOLOV8N, YOLO11N, YOLO26N</a:t>
            </a:r>
            <a:endParaRPr lang="en-US" sz="900" dirty="0"/>
          </a:p>
        </p:txBody>
      </p:sp>
      <p:sp>
        <p:nvSpPr>
          <p:cNvPr id="12" name="Label KEY FINDINGS"/>
          <p:cNvSpPr txBox="1"/>
          <p:nvPr/>
        </p:nvSpPr>
        <p:spPr>
          <a:xfrm>
            <a:off x="5760720" y="914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KEY FINDINGS</a:t>
            </a:r>
            <a:endParaRPr lang="en-US" sz="900" dirty="0"/>
          </a:p>
        </p:txBody>
      </p:sp>
      <p:sp>
        <p:nvSpPr>
          <p:cNvPr id="13" name="Box YOLO11n is best over"/>
          <p:cNvSpPr txBox="1"/>
          <p:nvPr/>
        </p:nvSpPr>
        <p:spPr>
          <a:xfrm>
            <a:off x="5760720" y="1143000"/>
            <a:ext cx="2926080" cy="74980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YOLO11n is best overall: F1 0.439 and mAP@50 0.400 on test, with fewer parameters than YOLOv8n.</a:t>
            </a:r>
            <a:endParaRPr lang="en-US" sz="900" dirty="0"/>
          </a:p>
        </p:txBody>
      </p:sp>
      <p:sp>
        <p:nvSpPr>
          <p:cNvPr id="14" name="Box Recall is the weak p"/>
          <p:cNvSpPr txBox="1"/>
          <p:nvPr/>
        </p:nvSpPr>
        <p:spPr>
          <a:xfrm>
            <a:off x="5760720" y="1984248"/>
            <a:ext cx="2926080" cy="74980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Recall is the weak point: at confidence 0.25 the models find only 25% to 35% of defects.</a:t>
            </a:r>
            <a:endParaRPr lang="en-US" sz="900" dirty="0"/>
          </a:p>
        </p:txBody>
      </p:sp>
      <p:sp>
        <p:nvSpPr>
          <p:cNvPr id="15" name="Box YOLO26n makes the fe"/>
          <p:cNvSpPr txBox="1"/>
          <p:nvPr/>
        </p:nvSpPr>
        <p:spPr>
          <a:xfrm>
            <a:off x="5760720" y="2825496"/>
            <a:ext cx="2926080" cy="74980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YOLO26n makes the fewest false alarms (225 FP) but misses the most defects (1,118 FN).</a:t>
            </a:r>
            <a:endParaRPr lang="en-US" sz="900" dirty="0"/>
          </a:p>
        </p:txBody>
      </p:sp>
      <p:sp>
        <p:nvSpPr>
          <p:cNvPr id="16" name="Label ERROR ANALYSIS (CONF 0.25)"/>
          <p:cNvSpPr txBox="1"/>
          <p:nvPr/>
        </p:nvSpPr>
        <p:spPr>
          <a:xfrm>
            <a:off x="5760720" y="3703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ERROR ANALYSIS (CONF 0.25)</a:t>
            </a:r>
            <a:endParaRPr lang="en-US" sz="900" dirty="0"/>
          </a:p>
        </p:txBody>
      </p:sp>
      <p:graphicFrame>
        <p:nvGraphicFramePr>
          <p:cNvPr id="17" name="Erro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3913632"/>
          <a:ext cx="2926080" cy="8534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Model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TP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FP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FN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YOLOv8n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463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398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1,031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YOLO11n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520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485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974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YOLO26n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376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225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1,118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311DC3-F3F7-AF5F-6F41-34B57CBE1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441" y="1069848"/>
            <a:ext cx="2722705" cy="13613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AB8491D-E9F9-DB8C-FA7D-02D227C7F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84" y="2861870"/>
            <a:ext cx="1721699" cy="129127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3F3E0C8-1439-2370-12F5-4F781059D2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615" y="2861870"/>
            <a:ext cx="1721699" cy="129127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052ADDB-65F4-76B1-C07F-8E01F93C5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9712" y="2861870"/>
            <a:ext cx="1721699" cy="12912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DISCUSSION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Limitations, Web App and Next Steps</a:t>
            </a:r>
            <a:endParaRPr lang="en-US" sz="2000" dirty="0"/>
          </a:p>
        </p:txBody>
      </p:sp>
      <p:sp>
        <p:nvSpPr>
          <p:cNvPr id="4" name="Column card 1"/>
          <p:cNvSpPr/>
          <p:nvPr/>
        </p:nvSpPr>
        <p:spPr>
          <a:xfrm>
            <a:off x="457200" y="1005840"/>
            <a:ext cx="2651760" cy="3520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lumn card 2"/>
          <p:cNvSpPr/>
          <p:nvPr/>
        </p:nvSpPr>
        <p:spPr>
          <a:xfrm>
            <a:off x="3246120" y="1005840"/>
            <a:ext cx="2651760" cy="3520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olumn card 3"/>
          <p:cNvSpPr/>
          <p:nvPr/>
        </p:nvSpPr>
        <p:spPr>
          <a:xfrm>
            <a:off x="6035040" y="1005840"/>
            <a:ext cx="2651760" cy="3520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imitations"/>
          <p:cNvSpPr txBox="1"/>
          <p:nvPr/>
        </p:nvSpPr>
        <p:spPr>
          <a:xfrm>
            <a:off x="640080" y="1143000"/>
            <a:ext cx="2331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LIMITATIONS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Low recall: only 25% to 35% of defects found at confidence 0.25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Likely frame leakage: 120 FPS video split at image level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Single location: all data from Kotri Junction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640 px resizing may hide fine cracks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One merged class cannot separate severe from minor defects</a:t>
            </a:r>
            <a:endParaRPr lang="en-US" sz="900" dirty="0"/>
          </a:p>
        </p:txBody>
      </p:sp>
      <p:sp>
        <p:nvSpPr>
          <p:cNvPr id="8" name="Web app"/>
          <p:cNvSpPr txBox="1"/>
          <p:nvPr/>
        </p:nvSpPr>
        <p:spPr>
          <a:xfrm>
            <a:off x="3429000" y="114300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WEB APPLICATION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FastAPI backend with a </a:t>
            </a:r>
            <a:r>
              <a:rPr lang="en-US" sz="1000" dirty="0"/>
              <a:t>Single</a:t>
            </a:r>
            <a:r>
              <a:rPr lang="en-US" sz="1000" dirty="0">
                <a:solidFill>
                  <a:schemeClr val="tx1"/>
                </a:solidFill>
              </a:rPr>
              <a:t>-class YOLOv11</a:t>
            </a:r>
            <a:r>
              <a:rPr lang="en-US" sz="1000" dirty="0"/>
              <a:t>n</a:t>
            </a:r>
            <a:r>
              <a:rPr lang="en-US" sz="1000" dirty="0">
                <a:solidFill>
                  <a:schemeClr val="tx1"/>
                </a:solidFill>
              </a:rPr>
              <a:t> detector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React 19 and Vite frontend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Upload an image, set confidence, view detections</a:t>
            </a:r>
            <a:endParaRPr lang="en-US" sz="900" dirty="0"/>
          </a:p>
        </p:txBody>
      </p:sp>
      <p:sp>
        <p:nvSpPr>
          <p:cNvPr id="10" name="Next steps"/>
          <p:cNvSpPr txBox="1"/>
          <p:nvPr/>
        </p:nvSpPr>
        <p:spPr>
          <a:xfrm>
            <a:off x="6217920" y="1143000"/>
            <a:ext cx="2331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PHASE 2: NEXT STEPS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Multi-class benchmarking (in progress)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Video-disjoint train, val and test split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Higher-resolution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Transformer detectors such as RT-DETR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B7B8A7-3BD0-0407-1538-75315F085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875287"/>
            <a:ext cx="2331721" cy="13276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ailGuard Light">
  <a:themeElements>
    <a:clrScheme name="RailGuard Light">
      <a:dk1>
        <a:srgbClr val="1C1C1E"/>
      </a:dk1>
      <a:lt1>
        <a:srgbClr val="FAFAF7"/>
      </a:lt1>
      <a:dk2>
        <a:srgbClr val="6B6B66"/>
      </a:dk2>
      <a:lt2>
        <a:srgbClr val="F0EFEA"/>
      </a:lt2>
      <a:accent1>
        <a:srgbClr val="C2410C"/>
      </a:accent1>
      <a:accent2>
        <a:srgbClr val="B45309"/>
      </a:accent2>
      <a:accent3>
        <a:srgbClr val="1D4ED8"/>
      </a:accent3>
      <a:accent4>
        <a:srgbClr val="15803D"/>
      </a:accent4>
      <a:accent5>
        <a:srgbClr val="B91C1C"/>
      </a:accent5>
      <a:accent6>
        <a:srgbClr val="7C3AED"/>
      </a:accent6>
      <a:hlink>
        <a:srgbClr val="C2410C"/>
      </a:hlink>
      <a:folHlink>
        <a:srgbClr val="6B6B66"/>
      </a:folHlink>
    </a:clrScheme>
    <a:fontScheme name="RailGuard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1202</Words>
  <Application>Microsoft Office PowerPoint</Application>
  <PresentationFormat>On-screen Show (16:9)</PresentationFormat>
  <Paragraphs>197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RailGuard Light</vt:lpstr>
      <vt:lpstr>RailGuard: Railway Track Surface Defect Detection</vt:lpstr>
      <vt:lpstr>Architecture: Pipeline and Models</vt:lpstr>
      <vt:lpstr>Model Comparison and Metrics</vt:lpstr>
      <vt:lpstr>Results: YOLOv8n and YOLO11n</vt:lpstr>
      <vt:lpstr>Results: YOLO26n and Error Analysis</vt:lpstr>
      <vt:lpstr>Limitations, Web App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RailGuard</dc:title>
  <dc:subject>PptxGenJS Presentation</dc:subject>
  <dc:creator>Balaji</dc:creator>
  <cp:lastModifiedBy>Balaji S</cp:lastModifiedBy>
  <cp:revision>5</cp:revision>
  <dcterms:created xsi:type="dcterms:W3CDTF">2026-10-08T01:33:45Z</dcterms:created>
  <dcterms:modified xsi:type="dcterms:W3CDTF">2026-10-09T08:13:55Z</dcterms:modified>
</cp:coreProperties>
</file>